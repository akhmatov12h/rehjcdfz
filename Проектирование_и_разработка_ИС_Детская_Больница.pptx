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3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6" r:id="rId10"/>
    <p:sldId id="267" r:id="rId11"/>
    <p:sldId id="268" r:id="rId12"/>
    <p:sldId id="270" r:id="rId13"/>
    <p:sldId id="269" r:id="rId1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48D54C-AB86-4F51-A4BA-B365B4A032BC}" type="datetimeFigureOut">
              <a:rPr lang="ru-RU" smtClean="0"/>
              <a:pPr/>
              <a:t>21.11.2025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1ABFA0-DAF2-4B01-A9D1-1712598759EB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1ABFA0-DAF2-4B01-A9D1-1712598759EB}" type="slidenum">
              <a:rPr lang="ru-RU" smtClean="0"/>
              <a:pPr/>
              <a:t>1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73204-7E78-48CF-B945-16522B5D5887}" type="datetimeFigureOut">
              <a:rPr lang="ru-RU" smtClean="0"/>
              <a:pPr/>
              <a:t>21.11.2025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863B1-7356-4B60-809E-C7103AA0B9A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5619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73204-7E78-48CF-B945-16522B5D5887}" type="datetimeFigureOut">
              <a:rPr lang="ru-RU" smtClean="0"/>
              <a:pPr/>
              <a:t>21.11.2025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863B1-7356-4B60-809E-C7103AA0B9A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930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73204-7E78-48CF-B945-16522B5D5887}" type="datetimeFigureOut">
              <a:rPr lang="ru-RU" smtClean="0"/>
              <a:pPr/>
              <a:t>21.11.2025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863B1-7356-4B60-809E-C7103AA0B9A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5718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73204-7E78-48CF-B945-16522B5D5887}" type="datetimeFigureOut">
              <a:rPr lang="ru-RU" smtClean="0"/>
              <a:pPr/>
              <a:t>21.11.2025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863B1-7356-4B60-809E-C7103AA0B9A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6963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73204-7E78-48CF-B945-16522B5D5887}" type="datetimeFigureOut">
              <a:rPr lang="ru-RU" smtClean="0"/>
              <a:pPr/>
              <a:t>21.11.2025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863B1-7356-4B60-809E-C7103AA0B9A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8112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73204-7E78-48CF-B945-16522B5D5887}" type="datetimeFigureOut">
              <a:rPr lang="ru-RU" smtClean="0"/>
              <a:pPr/>
              <a:t>21.11.2025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863B1-7356-4B60-809E-C7103AA0B9A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6270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73204-7E78-48CF-B945-16522B5D5887}" type="datetimeFigureOut">
              <a:rPr lang="ru-RU" smtClean="0"/>
              <a:pPr/>
              <a:t>21.11.2025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863B1-7356-4B60-809E-C7103AA0B9A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9334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73204-7E78-48CF-B945-16522B5D5887}" type="datetimeFigureOut">
              <a:rPr lang="ru-RU" smtClean="0"/>
              <a:pPr/>
              <a:t>21.11.2025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863B1-7356-4B60-809E-C7103AA0B9A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7113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73204-7E78-48CF-B945-16522B5D5887}" type="datetimeFigureOut">
              <a:rPr lang="ru-RU" smtClean="0"/>
              <a:pPr/>
              <a:t>21.11.2025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863B1-7356-4B60-809E-C7103AA0B9A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6506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73204-7E78-48CF-B945-16522B5D5887}" type="datetimeFigureOut">
              <a:rPr lang="ru-RU" smtClean="0"/>
              <a:pPr/>
              <a:t>21.11.2025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863B1-7356-4B60-809E-C7103AA0B9A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2493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73204-7E78-48CF-B945-16522B5D5887}" type="datetimeFigureOut">
              <a:rPr lang="ru-RU" smtClean="0"/>
              <a:pPr/>
              <a:t>21.11.2025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863B1-7356-4B60-809E-C7103AA0B9A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444318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73204-7E78-48CF-B945-16522B5D5887}" type="datetimeFigureOut">
              <a:rPr lang="ru-RU" smtClean="0"/>
              <a:pPr/>
              <a:t>21.11.2025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863B1-7356-4B60-809E-C7103AA0B9A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03016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73204-7E78-48CF-B945-16522B5D5887}" type="datetimeFigureOut">
              <a:rPr lang="ru-RU" smtClean="0"/>
              <a:pPr/>
              <a:t>21.11.2025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863B1-7356-4B60-809E-C7103AA0B9A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736068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73204-7E78-48CF-B945-16522B5D5887}" type="datetimeFigureOut">
              <a:rPr lang="ru-RU" smtClean="0"/>
              <a:pPr/>
              <a:t>21.11.2025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863B1-7356-4B60-809E-C7103AA0B9A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615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73204-7E78-48CF-B945-16522B5D5887}" type="datetimeFigureOut">
              <a:rPr lang="ru-RU" smtClean="0"/>
              <a:pPr/>
              <a:t>21.11.2025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863B1-7356-4B60-809E-C7103AA0B9A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35248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73204-7E78-48CF-B945-16522B5D5887}" type="datetimeFigureOut">
              <a:rPr lang="ru-RU" smtClean="0"/>
              <a:pPr/>
              <a:t>21.11.2025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863B1-7356-4B60-809E-C7103AA0B9A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4127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C73204-7E78-48CF-B945-16522B5D5887}" type="datetimeFigureOut">
              <a:rPr lang="ru-RU" smtClean="0"/>
              <a:pPr/>
              <a:t>21.11.2025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FA863B1-7356-4B60-809E-C7103AA0B9A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109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4" r:id="rId1"/>
    <p:sldLayoutId id="2147483865" r:id="rId2"/>
    <p:sldLayoutId id="2147483866" r:id="rId3"/>
    <p:sldLayoutId id="2147483867" r:id="rId4"/>
    <p:sldLayoutId id="2147483868" r:id="rId5"/>
    <p:sldLayoutId id="2147483869" r:id="rId6"/>
    <p:sldLayoutId id="2147483870" r:id="rId7"/>
    <p:sldLayoutId id="2147483871" r:id="rId8"/>
    <p:sldLayoutId id="2147483872" r:id="rId9"/>
    <p:sldLayoutId id="2147483873" r:id="rId10"/>
    <p:sldLayoutId id="2147483874" r:id="rId11"/>
    <p:sldLayoutId id="2147483875" r:id="rId12"/>
    <p:sldLayoutId id="2147483876" r:id="rId13"/>
    <p:sldLayoutId id="2147483877" r:id="rId14"/>
    <p:sldLayoutId id="2147483878" r:id="rId15"/>
    <p:sldLayoutId id="214748387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Проектирование и разработка ИС «Детская Поликлиника»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500694" y="5214950"/>
            <a:ext cx="3357586" cy="995354"/>
          </a:xfrm>
        </p:spPr>
        <p:txBody>
          <a:bodyPr>
            <a:normAutofit/>
          </a:bodyPr>
          <a:lstStyle/>
          <a:p>
            <a:r>
              <a:rPr lang="ru-RU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Ахматов А.Х</a:t>
            </a:r>
          </a:p>
          <a:p>
            <a:r>
              <a:rPr lang="ru-RU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Гр.ИС-33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5054617"/>
          </a:xfrm>
        </p:spPr>
        <p:txBody>
          <a:bodyPr>
            <a:normAutofit fontScale="92500" lnSpcReduction="10000"/>
          </a:bodyPr>
          <a:lstStyle/>
          <a:p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Цель–автоматизация учёта и управления процессами регистрации пациентов, ведения медицинских карт, записи на приёмы и формирования отчётности в детской поликлинике, повышение эффективности работы медицинского и административного персонала и обеспечение удобства при взаимодействии с системой. Такая информационная система обеспечивает систематизацию данных о пациентах, их законных представителях, медицинском персонале и приёмах, сокращает время на оформление и поиск медицинской документации и способствует повышению качества медицинского обслуживания детей.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785794"/>
            <a:ext cx="8229600" cy="5340369"/>
          </a:xfrm>
        </p:spPr>
        <p:txBody>
          <a:bodyPr>
            <a:normAutofit/>
          </a:bodyPr>
          <a:lstStyle/>
          <a:p>
            <a:pPr hangingPunct="0">
              <a:buNone/>
            </a:pPr>
            <a:r>
              <a:rPr lang="x-none" i="1" dirty="0"/>
              <a:t>Входная  информация:</a:t>
            </a:r>
            <a:endParaRPr lang="ru-RU" b="1" dirty="0"/>
          </a:p>
          <a:p>
            <a:pPr lvl="0" hangingPunct="0"/>
            <a:r>
              <a:rPr lang="ru-RU" dirty="0"/>
              <a:t>Данные о пациентах: </a:t>
            </a:r>
            <a:r>
              <a:rPr lang="ru-RU" dirty="0" err="1"/>
              <a:t>фио</a:t>
            </a:r>
            <a:r>
              <a:rPr lang="ru-RU" dirty="0"/>
              <a:t>, дата рождения, телефон, пол.</a:t>
            </a:r>
            <a:endParaRPr lang="ru-RU" b="1" dirty="0"/>
          </a:p>
          <a:p>
            <a:pPr lvl="0" hangingPunct="0"/>
            <a:r>
              <a:rPr lang="ru-RU" dirty="0"/>
              <a:t>Данные о врачах: </a:t>
            </a:r>
            <a:r>
              <a:rPr lang="ru-RU" dirty="0" err="1"/>
              <a:t>фио</a:t>
            </a:r>
            <a:r>
              <a:rPr lang="ru-RU" dirty="0"/>
              <a:t>, специальность, кабинет.</a:t>
            </a:r>
            <a:endParaRPr lang="ru-RU" b="1" dirty="0"/>
          </a:p>
          <a:p>
            <a:pPr lvl="0" hangingPunct="0"/>
            <a:r>
              <a:rPr lang="ru-RU" dirty="0"/>
              <a:t>Информация в медицинских картах: диагноз, история болезни, назначения.</a:t>
            </a:r>
            <a:endParaRPr lang="ru-RU" b="1" dirty="0"/>
          </a:p>
          <a:p>
            <a:pPr lvl="0" hangingPunct="0"/>
            <a:r>
              <a:rPr lang="ru-RU" dirty="0"/>
              <a:t>Данные о родителях: ФИО, телефон.</a:t>
            </a:r>
            <a:endParaRPr lang="ru-RU" b="1" dirty="0"/>
          </a:p>
          <a:p>
            <a:pPr lvl="0" hangingPunct="0"/>
            <a:r>
              <a:rPr lang="ru-RU" dirty="0"/>
              <a:t>Информация о приёмах: Дата и время проведения, статус.</a:t>
            </a:r>
            <a:endParaRPr lang="ru-RU" b="1" dirty="0"/>
          </a:p>
          <a:p>
            <a:pPr hangingPunct="0">
              <a:buNone/>
            </a:pPr>
            <a:r>
              <a:rPr lang="x-none" i="1" dirty="0"/>
              <a:t>Выходная  информация:</a:t>
            </a:r>
            <a:r>
              <a:rPr lang="x-none" b="1" u="sng" dirty="0"/>
              <a:t> </a:t>
            </a:r>
            <a:endParaRPr lang="ru-RU" b="1" dirty="0"/>
          </a:p>
          <a:p>
            <a:pPr lvl="0" hangingPunct="0"/>
            <a:r>
              <a:rPr lang="ru-RU" dirty="0"/>
              <a:t>Личная карточка пациента: анкетные данные, контактная информация родителя, медицинская история.</a:t>
            </a:r>
          </a:p>
          <a:p>
            <a:pPr lvl="0" hangingPunct="0"/>
            <a:r>
              <a:rPr lang="ru-RU" dirty="0"/>
              <a:t>Отчет по диагнозам: перечень диагнозов, количество случаев по каждому диагнозу.</a:t>
            </a:r>
          </a:p>
          <a:p>
            <a:pPr lvl="0" hangingPunct="0"/>
            <a:r>
              <a:rPr lang="ru-RU" dirty="0"/>
              <a:t>Список врачей поликлиники</a:t>
            </a:r>
          </a:p>
          <a:p>
            <a:pPr lvl="0" hangingPunct="0"/>
            <a:r>
              <a:rPr lang="ru-RU" dirty="0"/>
              <a:t>Расписание приёмов врачей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Снимок схемы данных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764704"/>
            <a:ext cx="7056784" cy="460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Рисунок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664039"/>
            <a:ext cx="5867400" cy="3436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Рисунок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3861048"/>
            <a:ext cx="5722937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Рисунок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764704"/>
            <a:ext cx="7776864" cy="54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Рисунок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0"/>
            <a:ext cx="8352928" cy="331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Рисунок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717032"/>
            <a:ext cx="8568952" cy="2880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16632"/>
            <a:ext cx="5608637" cy="348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Рисунок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5838" y="3789040"/>
            <a:ext cx="5913437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hatGPT Image 19 нояб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836712"/>
            <a:ext cx="6840760" cy="4752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7" y="116633"/>
            <a:ext cx="6009743" cy="3888432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1800" y="3140968"/>
            <a:ext cx="5979166" cy="338437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764704"/>
            <a:ext cx="8496943" cy="403244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16" y="404664"/>
            <a:ext cx="8712968" cy="43924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1C8AD35-29B6-4DAD-A947-0EC620130D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941" y="764704"/>
            <a:ext cx="8002117" cy="4320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97</TotalTime>
  <Words>182</Words>
  <Application>Microsoft Office PowerPoint</Application>
  <PresentationFormat>Экран (4:3)</PresentationFormat>
  <Paragraphs>16</Paragraphs>
  <Slides>13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Arial</vt:lpstr>
      <vt:lpstr>Calibri</vt:lpstr>
      <vt:lpstr>Times New Roman</vt:lpstr>
      <vt:lpstr>Trebuchet MS</vt:lpstr>
      <vt:lpstr>Wingdings 3</vt:lpstr>
      <vt:lpstr>Аспект</vt:lpstr>
      <vt:lpstr>Проектирование и разработка ИС «Детская Поликлиника»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Проектирование и разработка ИС «Книжный магазин»</dc:title>
  <dc:creator>ПК</dc:creator>
  <cp:lastModifiedBy>user</cp:lastModifiedBy>
  <cp:revision>11</cp:revision>
  <dcterms:created xsi:type="dcterms:W3CDTF">2025-11-18T18:18:47Z</dcterms:created>
  <dcterms:modified xsi:type="dcterms:W3CDTF">2025-11-21T08:13:19Z</dcterms:modified>
</cp:coreProperties>
</file>